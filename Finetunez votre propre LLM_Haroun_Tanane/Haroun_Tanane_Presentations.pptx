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rgbClr val="085A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A5-2240-B648-F09C9C07CB0A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A5-2240-B648-F09C9C07CB0A}"/>
              </c:ext>
            </c:extLst>
          </c:dPt>
          <c:dPt>
            <c:idx val="2"/>
            <c:invertIfNegative val="0"/>
            <c:bubble3D val="0"/>
            <c:spPr>
              <a:solidFill>
                <a:srgbClr val="E89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A5-2240-B648-F09C9C07CB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 80%</c:v>
                </c:pt>
                <c:pt idx="1">
                  <c:v>Validation 10%</c:v>
                </c:pt>
                <c:pt idx="2">
                  <c:v>Test 10%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5227</c:v>
                </c:pt>
                <c:pt idx="1">
                  <c:v>653</c:v>
                </c:pt>
                <c:pt idx="2">
                  <c:v>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A5-2240-B648-F09C9C07CB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733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20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</c:v>
                </c:pt>
              </c:strCache>
            </c:strRef>
          </c:tx>
          <c:spPr>
            <a:solidFill>
              <a:srgbClr val="C848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37-7E42-A9F9-2D6CD9D692AA}"/>
              </c:ext>
            </c:extLst>
          </c:dPt>
          <c:dPt>
            <c:idx val="1"/>
            <c:invertIfNegative val="0"/>
            <c:bubble3D val="0"/>
            <c:spPr>
              <a:solidFill>
                <a:srgbClr val="E89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37-7E42-A9F9-2D6CD9D692AA}"/>
              </c:ext>
            </c:extLst>
          </c:dPt>
          <c:dPt>
            <c:idx val="2"/>
            <c:invertIfNegative val="0"/>
            <c:bubble3D val="0"/>
            <c:spPr>
              <a:solidFill>
                <a:srgbClr val="2E9E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37-7E42-A9F9-2D6CD9D692A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Urgence maximale</c:v>
                </c:pt>
                <c:pt idx="1">
                  <c:v>Urgence modérée</c:v>
                </c:pt>
                <c:pt idx="2">
                  <c:v>Différée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</c:v>
                </c:pt>
                <c:pt idx="1">
                  <c:v>80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937-7E42-A9F9-2D6CD9D692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Latence (s)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\s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Min</c:v>
                </c:pt>
                <c:pt idx="1">
                  <c:v>Médiane</c:v>
                </c:pt>
                <c:pt idx="2">
                  <c:v>Moyenne</c:v>
                </c:pt>
                <c:pt idx="3">
                  <c:v>Max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2.34</c:v>
                </c:pt>
                <c:pt idx="1">
                  <c:v>2.41</c:v>
                </c:pt>
                <c:pt idx="2">
                  <c:v>2.41</c:v>
                </c:pt>
                <c:pt idx="3">
                  <c:v>2.4700000000000002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07-EC4E-914D-CE9F05CA8A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499999999999998"/>
          <c:min val="2.2000000000000002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936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HOSPITALIER SAINT-AURÉLIEN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IA de Triage Médical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Fine-tuning (SFT + DPO) et déploiement de Qwen3-1.7B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l'assistance au triage des urgences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4754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de 4 semaines</a:t>
            </a:r>
            <a:r>
              <a:rPr lang="en-US" sz="13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IA Engineer Junior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Commanditaire 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Marie Dubois</a:t>
            </a:r>
            <a:r>
              <a:rPr lang="en-US" sz="13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Directrice Innovation Médicale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25780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0F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5257800"/>
            <a:ext cx="82296" cy="960120"/>
          </a:xfrm>
          <a:prstGeom prst="roundRect">
            <a:avLst>
              <a:gd name="adj" fmla="val 22222"/>
            </a:avLst>
          </a:prstGeom>
          <a:solidFill>
            <a:srgbClr val="E896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DE DÉPLOIEMENT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5669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NO-GO production</a:t>
            </a:r>
            <a:r>
              <a:rPr lang="en-US" sz="2200" dirty="0">
                <a:solidFill>
                  <a:srgbClr val="6B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/   </a:t>
            </a:r>
            <a:r>
              <a:rPr lang="en-US" sz="2200" b="1" dirty="0">
                <a:solidFill>
                  <a:srgbClr val="6FD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Phase 2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ET OBJECTIFS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urgence saturée, un besoin de triage fiabilisé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085A8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Surcharge du service des urgences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Centre Hospitalier Saint-Aurélien (CHSA), grand hôpital public français, fait face à une surcharge constante de son service des urgences, particulièrement aux heures de pointe.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manque d'effectifs infirmiers et de triage entraîne des temps d'attente prolongés et un risque de négligence de cas critiques non identifiés rapidement.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402336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46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retenue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Qwen3-1.7B-Base affiné par SFT (LoRA) puis aligné par DPO, déployé en endpoint de démonstration via vLLM et FastAPI.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1600200"/>
            <a:ext cx="4937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—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du patient via un questionnaire adaptatif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26426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2459736"/>
            <a:ext cx="4937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—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niveau de priorité (urgence maximale / modérée / différée) selon des protocoles reconnus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5021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3319272"/>
            <a:ext cx="4937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—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clairement l'évaluation et les recommandations produites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4361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4178808"/>
            <a:ext cx="4937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—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terme, le système d'information hospitalier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52212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5038344"/>
            <a:ext cx="4937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—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interaction pour permettre les audits médicaux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chaîne en quatre étapes : du modèle de base au déploiement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88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F3A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24912"/>
            <a:ext cx="2514600" cy="246888"/>
          </a:xfrm>
          <a:prstGeom prst="rect">
            <a:avLst/>
          </a:prstGeom>
          <a:solidFill>
            <a:srgbClr val="0F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31089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Qwen3-1.7B-Base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361188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langage open-weight, point de départ du POC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32461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4688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85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724912"/>
            <a:ext cx="2514600" cy="246888"/>
          </a:xfrm>
          <a:prstGeom prst="rect">
            <a:avLst/>
          </a:prstGeom>
          <a:solidFill>
            <a:srgbClr val="085A8C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468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47872" y="31089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 (LoRA)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47872" y="361188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supervisé sur 6 534 paires instruction-réponse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32461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17920" y="246888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4688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724912"/>
            <a:ext cx="251460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468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82512" y="31089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82512" y="361188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par préférences sur 1 500 paires (chosen / rejected)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32520" y="32461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052560" y="246888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52560" y="246888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2724912"/>
            <a:ext cx="2514600" cy="246888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2468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17152" y="31089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217152" y="3611880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vLLM + FastAPI, traçabilité complète des interactions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0B2A45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521208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exécutif — </a:t>
            </a: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 technique de bout en bout démontrée : collecte du corpus, fine-tuning stable, alignement par préférences (75,3 % de succès) et endpoint fonctionnel avec traçabilité complète.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MÉTHODOLOGIE — PRÉPARATION DES DONNÉES (SEMAINE 1)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corpus bilingue assemblé à partir de quatre sources ouvertes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223760" cy="28346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exploité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MediQAl (config oeq)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cliniques ouverts, avec raisonnement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3 954 paires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FrenchMedMCQA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QCM médicaux (5 réponses)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1 080 paires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MedQuAD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Questions-réponses médicales générales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paires (échantillon)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UltraMedical-Preference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Paires de préférence (chosen / rejected)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(SFT) + 1 500 (DPO)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5720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6 534 paires assemblées pour le SFT — au-delà de la cible indicative de ~5 000, un dépassement assumé pour enrichir l'entraînement.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092440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103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6 534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4124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paires instruction-réponse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12480" y="3063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41248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(FR)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784080" y="3063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78408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 (EN)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0" y="3977640"/>
            <a:ext cx="288036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4114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train / validation / test (stratifiée par source)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8275320" y="4572000"/>
          <a:ext cx="32004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DU SIGNAL DE PRIORITÉ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source ne comportait de label de triage natif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annotation manuelle ciblée a été privilégiée à une labellisation automatique jugée risquée sur le plan clinique.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302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56032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cliniques uniques filtrés par mots-clés de gravité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68880" y="20574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79192" y="18288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33572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4335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56032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niveaux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8803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triage inspirée FRENCH / Manchester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99432" y="20574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9744" y="18288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64124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564124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9472" y="256032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 cas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28803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annotés manuellement par l'IA Engineer (non professionnel de santé)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29984" y="20574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40296" y="18288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94676" y="201168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7694676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50024" y="256032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Recalibrage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0024" y="28803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d'un biais sévère (95,5 % en "urgence maximale")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0536" y="20574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70848" y="18288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25228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982522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80576" y="256032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 cas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0576" y="28803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ajoutés pour rééquilibrer la classe "différée"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794760"/>
            <a:ext cx="6492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" y="39776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finale des 214 cas annotés (après recalibrage)</a:t>
            </a:r>
            <a:endParaRPr lang="en-US" sz="120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731520" y="4389120"/>
          <a:ext cx="61264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Shape 34"/>
          <p:cNvSpPr/>
          <p:nvPr/>
        </p:nvSpPr>
        <p:spPr>
          <a:xfrm>
            <a:off x="7223760" y="3794760"/>
            <a:ext cx="4389120" cy="2331720"/>
          </a:xfrm>
          <a:prstGeom prst="roundRect">
            <a:avLst>
              <a:gd name="adj" fmla="val 3137"/>
            </a:avLst>
          </a:prstGeom>
          <a:solidFill>
            <a:srgbClr val="0B2A45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5438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543800" y="42976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47,2 % urgence maximale · 37,4 % urgence modérée · 15,4 % différée.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distribution reste un échantillon de faisabilité, pas un corpus de référence clinique.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Anonymisation RGPD : Presidio face au vocabulaire médical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1943100"/>
            <a:ext cx="502920" cy="502920"/>
          </a:xfrm>
          <a:prstGeom prst="ellipse">
            <a:avLst/>
          </a:prstGeom>
          <a:solidFill>
            <a:srgbClr val="C8483A"/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19431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 détecté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(AnalyzerEngine + AnonymizerEngine) couplé à des modèles spaCy FR/EN a généré un taux élevé de faux positifs sur le vocabulaire médical : maladies éponymes (Parkinson, Hurler), abréviations biologiques (MPS, ALAT) taguées à tort comme données personnelles.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886200"/>
            <a:ext cx="466344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apportées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" y="428853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4288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Recentrage sur les entités réellement sensibles (PERSON, coordonnées) plutôt que LOCATION / ORGANIZATION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50976" y="483717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4837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d'exclusion de plus de 70 termes médicaux éponymes (Parkinson, Hurler, Blalock-Taussig, Fontan…)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50976" y="538581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5385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53492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Recognizer dédié par expression régulière pour les civilités (M., Mme)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0B2A45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06540" y="198882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22" name="Text 20"/>
          <p:cNvSpPr/>
          <p:nvPr/>
        </p:nvSpPr>
        <p:spPr>
          <a:xfrm>
            <a:off x="6606540" y="1988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6948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résiduelle documentée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faux positifs subsistent — par exemple un tag &lt;PERSON&gt; visible dans une justification générée (cas 1, section résultats).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3657600"/>
            <a:ext cx="4617720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8404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L'anonymisation automatique sur corpus médical dense reste imparfaite et nécessiterait, en production, une relecture humaine ciblée.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MÉTHODOLOGIE — ENTRAÎNEMENT (SEMAINES 2-3)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 : une instabilité numérique diagnostiquée par élimination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écartées par élimination progressive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16916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55848" y="16916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67328" y="1691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0176" y="16916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071616" y="16916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83096" y="1691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Optimiseur 8-bit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95944" y="169164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787384" y="16916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98864" y="1691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torch_dtype déprécié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B2A45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racine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27432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pour les calculs de quantization sans GradScaler → débordement des gradients après ~200-300 steps.  Solution stable : forcer l'intégralité des calculs (modèle, quantization, LoRA) en float32.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r16 / α32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77240" y="4709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— attention &amp; MLP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91840" y="3886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2044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1,003 %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520440" y="4709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paramètres entraînés (17,4 M / 1,74 Md)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3886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epochs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263640" y="4709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steps, configuration stable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778240" y="3886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00684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63,8 %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9006840" y="4709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token accuracy (loss ≈ 2,87–2,97)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— ENTRAÎNEMENT (SEMAINES 2-3)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DPO : alignement par préférences, stable dès le premier essai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SFT a été aligné sur 1 500 paires de préférence issues d'UltraMedical-Preference, disjointes des 800 exemples déjà utilisés en SFT. La configuration stable identifiée en SFT (float32 intégral, GPU unique) a été reconduite d'emblée.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23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423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0,522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2971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423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75,3 %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2971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/ accuracies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0" y="2148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2423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06840" y="29718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/ margins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0B2A45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2980" y="4640580"/>
            <a:ext cx="594360" cy="5943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" y="46405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28800" y="45262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 Rewards/accuracies » de 75,3 % indique que le modèle préfère correctement la réponse chosen à la réponse rejected dans trois cas sur quatre sur le jeu de validation.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51663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 signal d'alignement solide pour un POC de cette envergure (1 epoch, 84 steps utiles après filtrage de longueur).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DÉPLOIEMENT ET INFRASTRUCTURE (SEMAINE 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architecture à trois couches, tracée et testée en continu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0F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vLLM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788920" y="16916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d'inférence optimisé, API compatible OpenAI (endpoint /v1/completions)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085A8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16352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788920" y="281635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applicative — traçabilité des interactions, contrat métier (/triage, /health)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941064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88920" y="3941064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— Dockerfile, requirements.txt, healthcheck intégré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1149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Kaggle (Tesla T4) pour l'inférence vLLM · conteneurisation et CI/CD validés localement (image allégée, pas de GPU CUDA en local)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0" y="169164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15400" y="1874520"/>
            <a:ext cx="365760" cy="36576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154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0" y="1874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15400" y="24231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/triage journalisé en JSON Lines : ID, horodatage, contexte, réponse, latence, modèle.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342900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15400" y="361188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15400" y="4160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: build image, lancement conteneur, vérification /health, nettoyage — à chaque push.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RÉSULTATS ET MÉTRIQUES DE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Latence stable, robustesse partielle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latence — endpoint /triage (5 requêtes, GPU Tesla T4)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331720"/>
          <a:ext cx="51206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709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68680" y="5257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succès (5/5)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383280" y="4709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 ms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383280" y="5257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min–max, prévisible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5623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compatible avec un usage interactif en environnement pilote.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robustesse — endpoint /triage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331720"/>
          <a:ext cx="4663440" cy="31089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Interprétation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requis manquant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Pydantic correcte, erreur explicite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Champs vides acceptés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validation métier — traité comme normal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Contexte &gt; 2048 tokens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propre, pas de dégradation gracieuse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MÉTRIQUES DE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cas concrets, deux enseignements opposés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2004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1 · BPCO décompensée — urgence attendue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Niveau de priorité estimé : Urgence maximale. Justification : le contexte d'urgence maximal s'applique ici car il existe un risque grave et imminent nécessitant une intervention médicale intensive… »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cohérente sur le fond.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: artefact d'anonymisation résiduel (tag &lt;PERSON&gt;) et légère dérive terminologique (« syndrome cardio-pulmonaire aigu sévère », non standard).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916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C848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965960"/>
            <a:ext cx="5394960" cy="320040"/>
          </a:xfrm>
          <a:prstGeom prst="rect">
            <a:avLst/>
          </a:prstGeom>
          <a:solidFill>
            <a:srgbClr val="C848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691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2 · Lésion cutanée bénigne — différée attendue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4688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 classé ce cas en « urgence maximale » et justifié sa décision en invoquant une suspicion d'insuffisance rénale aiguë et d'infection tuberculeuse.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absents de l'énoncé fourni.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exemple illustre concrètement la limite de fiabilité du signal de priorité — hallucination clinique pure.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LIMITES IDENTIFIÉES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limites structurelles, assumées et documentées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2194560"/>
            <a:ext cx="502920" cy="502920"/>
          </a:xfrm>
          <a:prstGeom prst="ellipse">
            <a:avLst/>
          </a:prstGeom>
          <a:solidFill>
            <a:srgbClr val="C8483A"/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20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du signal de priorité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230428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sur-classe systématiquement en « urgence maximale », y compris pour des présentations bénignes. Avec seulement 214 exemples annotés sur 5 227 (4 % du corpus), le signal n'a pas disposé d'un volume suffisant pour être appris de façon fiable — le modèle a retenu le biais de la classe majoritaire plutôt que le critère clinique discriminant.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2980" y="3730752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4564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Hallucinations factuelles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91640" y="38404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plusieurs cas testés, le modèle a produit des justifications invoquant des symptômes, antécédents ou complications non mentionnés dans le cas clinique fourni — comportement inhérent aux LLM de cette taille sans vérification factuelle externe, constituant un risque clinique majeur sans supervision humaine.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09744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2980" y="5266944"/>
            <a:ext cx="502920" cy="502920"/>
          </a:xfrm>
          <a:prstGeom prst="ellipse">
            <a:avLst/>
          </a:prstGeom>
          <a:solidFill>
            <a:srgbClr val="0F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982980" y="5266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99262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Autres limites techniques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91640" y="5376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dégradation gracieuse au-delà de 2048 tokens · faux positifs résiduels sur l'anonymisation RGPD.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CHECKLIST GO / NO-GO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techniques : cinq GO, deux conditionnels, un NO-GO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30352"/>
          </a:xfrm>
          <a:prstGeom prst="rect">
            <a:avLst/>
          </a:prstGeom>
          <a:solidFill>
            <a:srgbClr val="EAF2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entraîné et fonctionnel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15000" y="167335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0" y="16733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269480" y="155448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+ DPO opérationnels, mais biais fort vers « urgence maximale » et hallucinations observées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84832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acceptable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15000" y="220370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20370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69480" y="2084832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2,4 s en moyenne, stable sur les tests réalisés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11064240" cy="530352"/>
          </a:xfrm>
          <a:prstGeom prst="rect">
            <a:avLst/>
          </a:prstGeom>
          <a:solidFill>
            <a:srgbClr val="EAF2F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1518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déployé et accessible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15000" y="2734056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273405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69480" y="2615184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+ FastAPI fonctionnels et testés en conditions quasi-réelles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3145536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14553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interactions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15000" y="326440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32644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69480" y="314553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structurée (ID, horodatage, contexte, réponse, latence)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3675888"/>
            <a:ext cx="11064240" cy="530352"/>
          </a:xfrm>
          <a:prstGeom prst="rect">
            <a:avLst/>
          </a:prstGeom>
          <a:solidFill>
            <a:srgbClr val="EAF2F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67588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/ robustesse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15000" y="379476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3794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69480" y="3675888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correcte des champs requis ; contextes longs en échec sec ; champs vides non filtrés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0624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des données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15000" y="432511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432511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420624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Fonctionnelle, mais faux positifs résiduels documentés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48640" y="4736592"/>
            <a:ext cx="11064240" cy="530352"/>
          </a:xfrm>
          <a:prstGeom prst="rect">
            <a:avLst/>
          </a:prstGeom>
          <a:solidFill>
            <a:srgbClr val="EAF2F5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736592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715000" y="485546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7" name="Text 35"/>
          <p:cNvSpPr/>
          <p:nvPr/>
        </p:nvSpPr>
        <p:spPr>
          <a:xfrm>
            <a:off x="5715000" y="485546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69480" y="4736592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opérationnel (build, test, </a:t>
            </a:r>
            <a:r>
              <a:rPr lang="en-US" sz="980" dirty="0" err="1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automatiques</a:t>
            </a:r>
            <a:r>
              <a:rPr lang="en-US" sz="9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48640" y="5299682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26694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accès (clés/secrets)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15000" y="538581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69480" y="5266944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980" dirty="0">
                <a:solidFill>
                  <a:srgbClr val="5B6B78"/>
                </a:solidFill>
                <a:latin typeface="Helvetica Neue" panose="02000503000000020004" pitchFamily="2" charset="0"/>
                <a:ea typeface="Calibri" pitchFamily="34" charset="-122"/>
                <a:cs typeface="Calibri" pitchFamily="34" charset="-120"/>
              </a:rPr>
              <a:t>Authentification X – API – KEY</a:t>
            </a:r>
            <a:endParaRPr lang="fr-FR" sz="98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6" name="Shape 34">
            <a:extLst>
              <a:ext uri="{FF2B5EF4-FFF2-40B4-BE49-F238E27FC236}">
                <a16:creationId xmlns:a16="http://schemas.microsoft.com/office/drawing/2014/main" id="{A57BAE89-0D24-38BD-B978-CF46FE47A6AD}"/>
              </a:ext>
            </a:extLst>
          </p:cNvPr>
          <p:cNvSpPr/>
          <p:nvPr/>
        </p:nvSpPr>
        <p:spPr>
          <a:xfrm>
            <a:off x="5715000" y="537210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  <p:txBody>
          <a:bodyPr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fr-FR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GO / NO-GO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cliniques : trois NO-GO sans ambiguïté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0824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C848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082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18288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du signal de priorité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20840" y="18288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d'annotation insuffisant (4 % du corpus) ; ne discrimine pas fiablement les cas bénins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19272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C848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192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312724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par des professionnels de santé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20840" y="312724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validation clinique effectuée à ce stade (hors périmètre du POC)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61772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C848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17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4425696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d'hallucinations dangereuses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20840" y="4425696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observés d'invention de symptômes non présents dans l'énoncé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67842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2A45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67842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global : </a:t>
            </a:r>
            <a:r>
              <a:rPr lang="en-US" sz="1500" b="1" dirty="0">
                <a:solidFill>
                  <a:srgbClr val="F0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NO-GO pour un déploiement en conditions réelles.  </a:t>
            </a:r>
            <a:r>
              <a:rPr lang="en-US" sz="1500" b="1" dirty="0">
                <a:solidFill>
                  <a:srgbClr val="6FD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pour la poursuite en Phase 2 encadrée.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POC démontre une faisabilité technique — pas un produit prêt pour la production clinique.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0F3A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834640"/>
            <a:ext cx="82296" cy="1920240"/>
          </a:xfrm>
          <a:prstGeom prst="roundRect">
            <a:avLst>
              <a:gd name="adj" fmla="val 22222"/>
            </a:avLst>
          </a:prstGeom>
          <a:solidFill>
            <a:srgbClr val="C8483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175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NO-GO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611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en conditions réelles : signal de priorité non fiable, hallucinations non maîtrisées, aucune validation clinique.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834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0F3A5C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2834640"/>
            <a:ext cx="82296" cy="1920240"/>
          </a:xfrm>
          <a:prstGeom prst="roundRect">
            <a:avLst>
              <a:gd name="adj" fmla="val 22222"/>
            </a:avLst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0175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FD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Poursuite en Phase 2 encadrée : base technique solide, méthodologie rigoureuse, limites documentées avec précision.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POC a pour objet de démontrer une faisabilité technique, non de livrer un produit fini prêt pour la production clinique. 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RECOMMANDATIONS ET ROADMAP 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recommandations prioritaires avant toute Phase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8820"/>
            <a:ext cx="457200" cy="457200"/>
          </a:xfrm>
          <a:prstGeom prst="ellipse">
            <a:avLst/>
          </a:prstGeom>
          <a:solidFill>
            <a:srgbClr val="085A8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8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09928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CHSA pour un corpus de triage réel, annoté par des professionnels de santé (IOA)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6520" y="1988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70992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406140"/>
            <a:ext cx="457200" cy="457200"/>
          </a:xfrm>
          <a:prstGeom prst="ellipse">
            <a:avLst/>
          </a:prstGeom>
          <a:solidFill>
            <a:srgbClr val="085A8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06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12724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clinique formelle du signal de priorité par un comité médical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017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406140"/>
            <a:ext cx="457200" cy="457200"/>
          </a:xfrm>
          <a:prstGeom prst="ellipse">
            <a:avLst/>
          </a:prstGeom>
          <a:solidFill>
            <a:srgbClr val="085A8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06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12724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de garde-fou : réponse « indéterminé » plutôt qu'un signal potentiellement erroné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823460"/>
            <a:ext cx="457200" cy="457200"/>
          </a:xfrm>
          <a:prstGeom prst="ellipse">
            <a:avLst/>
          </a:prstGeom>
          <a:solidFill>
            <a:srgbClr val="085A8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234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54456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troncature des contextes longs, avec dégradation gracieuse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823460"/>
            <a:ext cx="457200" cy="457200"/>
          </a:xfrm>
          <a:prstGeom prst="ellipse">
            <a:avLst/>
          </a:prstGeom>
          <a:solidFill>
            <a:srgbClr val="085A8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8234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454456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 de l'anonymisation par une relecture humaine ciblée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Phase 2 encadrée au passage à l'échelle (Phase 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1171" y="22174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pPr algn="just"/>
            <a:endParaRPr lang="fr-FR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E8963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20040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Encadrée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" y="2505456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97864" y="249859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triage réel annoté par des professionnels de santé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5256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18211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" y="3666744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3163824"/>
            <a:ext cx="29260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28908" y="3659053"/>
            <a:ext cx="438912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clinique par un comité médical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" y="4818887"/>
            <a:ext cx="292608" cy="290421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" y="4645152"/>
            <a:ext cx="292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868446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Garde-fous sur les cas ambigus, dégradation gracieuse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0B2A45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6916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2E9E5B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965960"/>
            <a:ext cx="5394960" cy="32004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691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Passage à l'échelle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0256" y="264261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620256" y="2642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5146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plus grande envergure (32 milliards de paramètres et plus)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20256" y="360273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6"/>
          <p:cNvSpPr/>
          <p:nvPr/>
        </p:nvSpPr>
        <p:spPr>
          <a:xfrm>
            <a:off x="6620256" y="3602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34747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de données étendus sur le signal de priorité, architecture clinique structurée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20256" y="456285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1" name="Text 29"/>
          <p:cNvSpPr/>
          <p:nvPr/>
        </p:nvSpPr>
        <p:spPr>
          <a:xfrm>
            <a:off x="6620256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4348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 production robuste (authentification, monitoring, plan de bascule)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CHSA — POC Agent IA de Triage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objectif atteint : démontrer la faisabilité technique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POC atteint son objectif : démontrer la faisabilité technique d'un agent de triage médical, du recueil des données jusqu'au déploiement d'un endpoint tracé et testé.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rigueur méthodologique — en particulier la détection et la correction itérative des biais d'annotation, ainsi que le diagnostic approfondi des instabilités d'entraînement — constitue une base solide et documentée pour engager, en toute connaissance de ses limites, la prochaine phase du projet aux côtés des équipes médicales du CHSA.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515600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— Questions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Hospitalier Saint-Aurélien · POC Agent IA de Triage · Qwen3-1.7B (SFT + DPO)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2252</Words>
  <Application>Microsoft Macintosh PowerPoint</Application>
  <PresentationFormat>Grand écran</PresentationFormat>
  <Paragraphs>340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Helvetica Neue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Mac3</cp:lastModifiedBy>
  <cp:revision>7</cp:revision>
  <dcterms:created xsi:type="dcterms:W3CDTF">2026-08-21T03:08:01Z</dcterms:created>
  <dcterms:modified xsi:type="dcterms:W3CDTF">2026-08-25T10:23:06Z</dcterms:modified>
</cp:coreProperties>
</file>